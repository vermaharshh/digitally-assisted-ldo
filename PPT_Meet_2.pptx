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S_API157585812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S_API157585812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SLIDES_API157585812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SLIDES_API157585812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SLIDES_API157585812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SLIDES_API157585812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30941981f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30941981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30941981f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30941981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SLIDES_API157585812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SLIDES_API157585812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24800" y="1262550"/>
            <a:ext cx="7694400" cy="21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FFFF"/>
                </a:solidFill>
              </a:rPr>
              <a:t>Digitally Assisted </a:t>
            </a:r>
            <a:endParaRPr b="1" sz="4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400">
                <a:solidFill>
                  <a:srgbClr val="FFFFFF"/>
                </a:solidFill>
              </a:rPr>
              <a:t>Low Dropout Regulator (DA-LDO)</a:t>
            </a:r>
            <a:endParaRPr b="1" sz="4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635000" y="635000"/>
            <a:ext cx="762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With vs. Without Digital Assistance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635000" y="2313225"/>
            <a:ext cx="35982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Without Assistance: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Slow transient response 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Higher undershoot 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073650" y="2313225"/>
            <a:ext cx="35982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With Assistance: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Fast settling 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Reduced undershoot 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635000" y="635000"/>
            <a:ext cx="762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DA-LDO Architecture</a:t>
            </a:r>
            <a:endParaRPr b="1" sz="4000">
              <a:solidFill>
                <a:srgbClr val="FFFFFF"/>
              </a:solidFill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6750" y="1449425"/>
            <a:ext cx="6366602" cy="344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635000" y="635000"/>
            <a:ext cx="762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What is the 'Assistance' Helping?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35000" y="2286000"/>
            <a:ext cx="76200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Faster response to transient loads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Energy efficiency (digital loop off in steady state)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Reduction in voltage variations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Area savings compared to full analog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525" y="883075"/>
            <a:ext cx="5074999" cy="410315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245050" y="120200"/>
            <a:ext cx="3710400" cy="486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arenR"/>
            </a:pPr>
            <a:r>
              <a:rPr lang="en" sz="1800">
                <a:solidFill>
                  <a:schemeClr val="lt1"/>
                </a:solidFill>
              </a:rPr>
              <a:t>EA </a:t>
            </a:r>
            <a:r>
              <a:rPr lang="en" sz="1800">
                <a:solidFill>
                  <a:schemeClr val="lt1"/>
                </a:solidFill>
              </a:rPr>
              <a:t>continuously</a:t>
            </a:r>
            <a:r>
              <a:rPr lang="en" sz="1800">
                <a:solidFill>
                  <a:schemeClr val="lt1"/>
                </a:solidFill>
              </a:rPr>
              <a:t> controls APT to sample output voltage directly and produce</a:t>
            </a:r>
            <a:r>
              <a:rPr lang="en" sz="1800">
                <a:solidFill>
                  <a:schemeClr val="lt1"/>
                </a:solidFill>
              </a:rPr>
              <a:t> continuous</a:t>
            </a:r>
            <a:r>
              <a:rPr lang="en" sz="1800">
                <a:solidFill>
                  <a:schemeClr val="lt1"/>
                </a:solidFill>
              </a:rPr>
              <a:t> analog current.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arenR"/>
            </a:pPr>
            <a:r>
              <a:rPr lang="en" sz="1800">
                <a:solidFill>
                  <a:schemeClr val="lt1"/>
                </a:solidFill>
              </a:rPr>
              <a:t>RC network helps cancel the second pole, ensuring a good phase margin even in worst-case scenarios.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arenR"/>
            </a:pPr>
            <a:r>
              <a:rPr lang="en" sz="1800">
                <a:solidFill>
                  <a:schemeClr val="lt1"/>
                </a:solidFill>
              </a:rPr>
              <a:t>folded cascode amplifier provides a dominant pole at a lower frequency, which helps in stability.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AutoNum type="arabicParenR"/>
            </a:pPr>
            <a:r>
              <a:rPr lang="en" sz="1800">
                <a:solidFill>
                  <a:schemeClr val="lt1"/>
                </a:solidFill>
              </a:rPr>
              <a:t>The high gain-bandwidth product (GBW) of the folded cascode design ensures fast transient response to sudden load variations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80" name="Google Shape;80;p17"/>
          <p:cNvSpPr txBox="1"/>
          <p:nvPr/>
        </p:nvSpPr>
        <p:spPr>
          <a:xfrm>
            <a:off x="3989975" y="339825"/>
            <a:ext cx="58833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chemeClr val="lt1"/>
                </a:solidFill>
              </a:rPr>
              <a:t>Error Amplifier - Folded Cascode Amplifier</a:t>
            </a:r>
            <a:endParaRPr b="1" sz="1900" u="sng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500" y="1332125"/>
            <a:ext cx="4888200" cy="340682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198800" y="201125"/>
            <a:ext cx="4276500" cy="47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846075" y="258900"/>
            <a:ext cx="665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u="sng">
                <a:solidFill>
                  <a:schemeClr val="lt1"/>
                </a:solidFill>
              </a:rPr>
              <a:t>FSM STATE DIAGRAM</a:t>
            </a:r>
            <a:endParaRPr sz="2200" u="sng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635000" y="635000"/>
            <a:ext cx="7620000" cy="12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rgbClr val="FFFFFF"/>
                </a:solidFill>
              </a:rPr>
              <a:t>DA-LDO Across Technology Nodes</a:t>
            </a:r>
            <a:endParaRPr b="1" sz="4000">
              <a:solidFill>
                <a:srgbClr val="FFFFFF"/>
              </a:solidFill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635000" y="2286000"/>
            <a:ext cx="7620000" cy="50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Low Nodes (≤65nm):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Helps compensate for low intrinsic gain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Higher Nodes (130nm – 180nm):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Useful for high-current applications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- Area optimization, better transient response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